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Branching Strategy Modernization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Improving Software Delivery &amp; Reducing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This presentation assumes basic understanding of: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• Branching concepts (feature branches, main branch, etc.)</a:t>
            </a:r>
          </a:p>
          <a:p>
            <a:pPr>
              <a:spcAft>
                <a:spcPts val="800"/>
              </a:spcAft>
              <a:defRPr sz="2000"/>
            </a:pPr>
            <a:r>
              <a:t>• Deployment pipelines and environments</a:t>
            </a:r>
          </a:p>
          <a:p>
            <a:pPr>
              <a:spcAft>
                <a:spcPts val="800"/>
              </a:spcAft>
              <a:defRPr sz="2000"/>
            </a:pPr>
            <a:r>
              <a:t>• Git tags and versioning</a:t>
            </a:r>
          </a:p>
          <a:p>
            <a:pPr>
              <a:spcAft>
                <a:spcPts val="800"/>
              </a:spcAft>
              <a:defRPr sz="2000"/>
            </a:pPr>
            <a:r>
              <a:t>• Release management fundamentals</a:t>
            </a:r>
          </a:p>
          <a:p>
            <a:pPr>
              <a:spcAft>
                <a:spcPts val="800"/>
              </a:spcAft>
              <a:defRPr sz="2000"/>
            </a:pPr>
            <a:r>
              <a:t>• CI/CD concepts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Goal: High-level overview suitable for technical and non-technical audiences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Problem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Current Challenges: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• Slow delivery: 2-3 weeks from code complete to production</a:t>
            </a:r>
          </a:p>
          <a:p>
            <a:pPr>
              <a:spcAft>
                <a:spcPts val="800"/>
              </a:spcAft>
              <a:defRPr sz="1700"/>
            </a:pPr>
            <a:r>
              <a:t>  (Industry standard: 2-5 days)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• High risk: Code rebuilt 5 times through pipeline</a:t>
            </a:r>
          </a:p>
          <a:p>
            <a:pPr>
              <a:spcAft>
                <a:spcPts val="800"/>
              </a:spcAft>
              <a:defRPr sz="1700"/>
            </a:pPr>
            <a:r>
              <a:t>  What's tested ≠ What's deployed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• Manual errors: Cherry-pick operations create mistakes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• Unclear processes: No defined hotfix/rollback procedures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• Weak quality gates: No automated validation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Goal: Modernize our approach to be faster, safer, more 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Current System: GitLab Flow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Branch Structure:</a:t>
            </a:r>
          </a:p>
          <a:p>
            <a:pPr>
              <a:spcAft>
                <a:spcPts val="800"/>
              </a:spcAft>
              <a:defRPr sz="1700"/>
            </a:pPr>
            <a:r>
              <a:t>dev-6.0.0 → intg → qa → stage → main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Process:</a:t>
            </a:r>
          </a:p>
          <a:p>
            <a:pPr>
              <a:spcAft>
                <a:spcPts val="800"/>
              </a:spcAft>
              <a:defRPr sz="1700"/>
            </a:pPr>
            <a:r>
              <a:t>• Developer creates feature from dev-6.0.0</a:t>
            </a:r>
          </a:p>
          <a:p>
            <a:pPr>
              <a:spcAft>
                <a:spcPts val="800"/>
              </a:spcAft>
              <a:defRPr sz="1700"/>
            </a:pPr>
            <a:r>
              <a:t>• Merges to dev-6.0.0</a:t>
            </a:r>
          </a:p>
          <a:p>
            <a:pPr>
              <a:spcAft>
                <a:spcPts val="800"/>
              </a:spcAft>
              <a:defRPr sz="1700"/>
            </a:pPr>
            <a:r>
              <a:t>• Cherry-picks to intg (manual)</a:t>
            </a:r>
          </a:p>
          <a:p>
            <a:pPr>
              <a:spcAft>
                <a:spcPts val="800"/>
              </a:spcAft>
              <a:defRPr sz="1700"/>
            </a:pPr>
            <a:r>
              <a:t>• Cherry-picks/merges through qa, stage, main</a:t>
            </a:r>
          </a:p>
          <a:p>
            <a:pPr>
              <a:spcAft>
                <a:spcPts val="800"/>
              </a:spcAft>
              <a:defRPr sz="1700"/>
            </a:pPr>
          </a:p>
          <a:p>
            <a:pPr>
              <a:spcAft>
                <a:spcPts val="800"/>
              </a:spcAft>
              <a:defRPr sz="1700"/>
            </a:pPr>
            <a:r>
              <a:t>Deployments:</a:t>
            </a:r>
          </a:p>
          <a:p>
            <a:pPr>
              <a:spcAft>
                <a:spcPts val="800"/>
              </a:spcAft>
              <a:defRPr sz="1700"/>
            </a:pPr>
            <a:r>
              <a:t>• 5 environments: DEV, INTG, QA, STAGE, PROD</a:t>
            </a:r>
          </a:p>
          <a:p>
            <a:pPr>
              <a:spcAft>
                <a:spcPts val="800"/>
              </a:spcAft>
              <a:defRPr sz="1700"/>
            </a:pPr>
            <a:r>
              <a:t>• Code rebuilt at each environment</a:t>
            </a:r>
          </a:p>
          <a:p>
            <a:pPr>
              <a:spcAft>
                <a:spcPts val="800"/>
              </a:spcAft>
              <a:defRPr sz="1700"/>
            </a:pPr>
            <a:r>
              <a:t>• 2-3 week timeline for production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Current System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Branching Problems:</a:t>
            </a:r>
          </a:p>
          <a:p>
            <a:pPr>
              <a:spcAft>
                <a:spcPts val="800"/>
              </a:spcAft>
              <a:defRPr sz="1600"/>
            </a:pPr>
            <a:r>
              <a:t>• Manual cherry-picks (10-15 per sprint) → human errors</a:t>
            </a:r>
          </a:p>
          <a:p>
            <a:pPr>
              <a:spcAft>
                <a:spcPts val="800"/>
              </a:spcAft>
              <a:defRPr sz="1600"/>
            </a:pPr>
            <a:r>
              <a:t>• No clear synchronization after hotfixes</a:t>
            </a:r>
          </a:p>
          <a:p>
            <a:pPr>
              <a:spcAft>
                <a:spcPts val="800"/>
              </a:spcAft>
              <a:defRPr sz="1600"/>
            </a:pPr>
            <a:r>
              <a:t>• Complex branch management (5 long-lived branches)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Quality &amp; Process Deficiencies:</a:t>
            </a:r>
          </a:p>
          <a:p>
            <a:pPr>
              <a:spcAft>
                <a:spcPts val="800"/>
              </a:spcAft>
              <a:defRPr sz="1600"/>
            </a:pPr>
            <a:r>
              <a:t>• Code rebuilt 5 times (violates Build Once principle)</a:t>
            </a:r>
          </a:p>
          <a:p>
            <a:pPr>
              <a:spcAft>
                <a:spcPts val="800"/>
              </a:spcAft>
              <a:defRPr sz="1600"/>
            </a:pPr>
            <a:r>
              <a:t>• No code coverage requirements (0%)</a:t>
            </a:r>
          </a:p>
          <a:p>
            <a:pPr>
              <a:spcAft>
                <a:spcPts val="800"/>
              </a:spcAft>
              <a:defRPr sz="1600"/>
            </a:pPr>
            <a:r>
              <a:t>• SonarQube optional and often bypassed</a:t>
            </a:r>
          </a:p>
          <a:p>
            <a:pPr>
              <a:spcAft>
                <a:spcPts val="800"/>
              </a:spcAft>
              <a:defRPr sz="1600"/>
            </a:pPr>
            <a:r>
              <a:t>• No automated test execution gates</a:t>
            </a:r>
          </a:p>
          <a:p>
            <a:pPr>
              <a:spcAft>
                <a:spcPts val="800"/>
              </a:spcAft>
              <a:defRPr sz="1600"/>
            </a:pPr>
            <a:r>
              <a:t>• No security scan requirements</a:t>
            </a:r>
          </a:p>
          <a:p>
            <a:pPr>
              <a:spcAft>
                <a:spcPts val="800"/>
              </a:spcAft>
              <a:defRPr sz="1600"/>
            </a:pPr>
            <a:r>
              <a:t>• Hotfix/rollback processes undefined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High risk, slow delivery, operational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Three Approaches Compared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560320" cy="5303520"/>
          </a:xfrm>
          <a:prstGeom prst="roundRect">
            <a:avLst/>
          </a:prstGeom>
          <a:solidFill>
            <a:srgbClr val="FFEBEB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600" b="1"/>
            </a:pPr>
            <a:r>
              <a:t>CURRENT STATE</a:t>
            </a:r>
          </a:p>
          <a:p>
            <a:pPr>
              <a:spcBef>
                <a:spcPts val="200"/>
              </a:spcBef>
              <a:defRPr sz="1100"/>
            </a:pPr>
            <a:r>
              <a:t>GitLab Flow Hybrid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5 Branches:</a:t>
            </a:r>
          </a:p>
          <a:p>
            <a:pPr>
              <a:spcBef>
                <a:spcPts val="200"/>
              </a:spcBef>
              <a:defRPr sz="1100"/>
            </a:pPr>
            <a:r>
              <a:t>dev → intg → qa</a:t>
            </a:r>
          </a:p>
          <a:p>
            <a:pPr>
              <a:spcBef>
                <a:spcPts val="200"/>
              </a:spcBef>
              <a:defRPr sz="1100"/>
            </a:pPr>
            <a:r>
              <a:t>→ stage → main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Cherry-picks: Many</a:t>
            </a:r>
          </a:p>
          <a:p>
            <a:pPr>
              <a:spcBef>
                <a:spcPts val="200"/>
              </a:spcBef>
              <a:defRPr sz="1100"/>
            </a:pPr>
            <a:r>
              <a:t>Rebuilds: 5 times</a:t>
            </a:r>
          </a:p>
          <a:p>
            <a:pPr>
              <a:spcBef>
                <a:spcPts val="200"/>
              </a:spcBef>
              <a:defRPr sz="1100"/>
            </a:pPr>
            <a:r>
              <a:t>Lead Time: 2-3 weeks</a:t>
            </a:r>
          </a:p>
          <a:p>
            <a:pPr>
              <a:spcBef>
                <a:spcPts val="200"/>
              </a:spcBef>
              <a:defRPr sz="1100"/>
            </a:pPr>
            <a:r>
              <a:t>Environments: 5</a:t>
            </a:r>
          </a:p>
          <a:p>
            <a:pPr>
              <a:spcBef>
                <a:spcPts val="200"/>
              </a:spcBef>
              <a:defRPr sz="1100"/>
            </a:pPr>
            <a:r>
              <a:t>Quality Gates: Weak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Issues:</a:t>
            </a:r>
          </a:p>
          <a:p>
            <a:pPr>
              <a:spcBef>
                <a:spcPts val="200"/>
              </a:spcBef>
              <a:defRPr sz="1100"/>
            </a:pPr>
            <a:r>
              <a:t>• Manual errors</a:t>
            </a:r>
          </a:p>
          <a:p>
            <a:pPr>
              <a:spcBef>
                <a:spcPts val="200"/>
              </a:spcBef>
              <a:defRPr sz="1100"/>
            </a:pPr>
            <a:r>
              <a:t>• Slow delivery</a:t>
            </a:r>
          </a:p>
          <a:p>
            <a:pPr>
              <a:spcBef>
                <a:spcPts val="200"/>
              </a:spcBef>
              <a:defRPr sz="1100"/>
            </a:pPr>
            <a:r>
              <a:t>• No BODE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05840"/>
            <a:ext cx="2560320" cy="530352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600" b="1"/>
            </a:pPr>
            <a:r>
              <a:t>GITFLOW</a:t>
            </a:r>
          </a:p>
          <a:p>
            <a:pPr>
              <a:spcBef>
                <a:spcPts val="200"/>
              </a:spcBef>
              <a:defRPr sz="1100"/>
            </a:pPr>
            <a:r>
              <a:t>Standard GitFlow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2 Main Branches:</a:t>
            </a:r>
          </a:p>
          <a:p>
            <a:pPr>
              <a:spcBef>
                <a:spcPts val="200"/>
              </a:spcBef>
              <a:defRPr sz="1100"/>
            </a:pPr>
            <a:r>
              <a:t>develop → main</a:t>
            </a:r>
          </a:p>
          <a:p>
            <a:pPr>
              <a:spcBef>
                <a:spcPts val="200"/>
              </a:spcBef>
              <a:defRPr sz="1100"/>
            </a:pPr>
            <a:r>
              <a:t>+ release branches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Cherry-picks: 0</a:t>
            </a:r>
          </a:p>
          <a:p>
            <a:pPr>
              <a:spcBef>
                <a:spcPts val="200"/>
              </a:spcBef>
              <a:defRPr sz="1100"/>
            </a:pPr>
            <a:r>
              <a:t>Rebuilds: 1 (BODE)</a:t>
            </a:r>
          </a:p>
          <a:p>
            <a:pPr>
              <a:spcBef>
                <a:spcPts val="200"/>
              </a:spcBef>
              <a:defRPr sz="1100"/>
            </a:pPr>
            <a:r>
              <a:t>Lead Time: 1-1.5 weeks</a:t>
            </a:r>
          </a:p>
          <a:p>
            <a:pPr>
              <a:spcBef>
                <a:spcPts val="200"/>
              </a:spcBef>
              <a:defRPr sz="1100"/>
            </a:pPr>
            <a:r>
              <a:t>Environments: 3</a:t>
            </a:r>
          </a:p>
          <a:p>
            <a:pPr>
              <a:spcBef>
                <a:spcPts val="200"/>
              </a:spcBef>
              <a:defRPr sz="1100"/>
            </a:pPr>
            <a:r>
              <a:t>Quality Gates: Strong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Benefits:</a:t>
            </a:r>
          </a:p>
          <a:p>
            <a:pPr>
              <a:spcBef>
                <a:spcPts val="200"/>
              </a:spcBef>
              <a:defRPr sz="1100"/>
            </a:pPr>
            <a:r>
              <a:t>• 50% faster</a:t>
            </a:r>
          </a:p>
          <a:p>
            <a:pPr>
              <a:spcBef>
                <a:spcPts val="200"/>
              </a:spcBef>
              <a:defRPr sz="1100"/>
            </a:pPr>
            <a:r>
              <a:t>• Artifact promotion</a:t>
            </a:r>
          </a:p>
          <a:p>
            <a:pPr>
              <a:spcBef>
                <a:spcPts val="200"/>
              </a:spcBef>
              <a:defRPr sz="1100"/>
            </a:pPr>
            <a:r>
              <a:t>• Clear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05840"/>
            <a:ext cx="2560320" cy="530352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600" b="1"/>
            </a:pPr>
            <a:r>
              <a:t>TRUNK-BASED DEV</a:t>
            </a:r>
          </a:p>
          <a:p>
            <a:pPr>
              <a:spcBef>
                <a:spcPts val="200"/>
              </a:spcBef>
              <a:defRPr sz="1100"/>
            </a:pPr>
            <a:r>
              <a:t>Single main branch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1 Branch:</a:t>
            </a:r>
          </a:p>
          <a:p>
            <a:pPr>
              <a:spcBef>
                <a:spcPts val="200"/>
              </a:spcBef>
              <a:defRPr sz="1100"/>
            </a:pPr>
            <a:r>
              <a:t>main (trunk)</a:t>
            </a:r>
          </a:p>
          <a:p>
            <a:pPr>
              <a:spcBef>
                <a:spcPts val="200"/>
              </a:spcBef>
              <a:defRPr sz="1100"/>
            </a:pPr>
            <a:r>
              <a:t>+ short features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Cherry-picks: 0</a:t>
            </a:r>
          </a:p>
          <a:p>
            <a:pPr>
              <a:spcBef>
                <a:spcPts val="200"/>
              </a:spcBef>
              <a:defRPr sz="1100"/>
            </a:pPr>
            <a:r>
              <a:t>Rebuilds: 1 (BODE)</a:t>
            </a:r>
          </a:p>
          <a:p>
            <a:pPr>
              <a:spcBef>
                <a:spcPts val="200"/>
              </a:spcBef>
              <a:defRPr sz="1100"/>
            </a:pPr>
            <a:r>
              <a:t>Lead Time: 1-2 days</a:t>
            </a:r>
          </a:p>
          <a:p>
            <a:pPr>
              <a:spcBef>
                <a:spcPts val="200"/>
              </a:spcBef>
              <a:defRPr sz="1100"/>
            </a:pPr>
            <a:r>
              <a:t>Environments: 2-3</a:t>
            </a:r>
          </a:p>
          <a:p>
            <a:pPr>
              <a:spcBef>
                <a:spcPts val="200"/>
              </a:spcBef>
              <a:defRPr sz="1100"/>
            </a:pPr>
            <a:r>
              <a:t>Quality Gates: Very Strong</a:t>
            </a:r>
          </a:p>
          <a:p>
            <a:pPr>
              <a:spcBef>
                <a:spcPts val="200"/>
              </a:spcBef>
              <a:defRPr sz="1100"/>
            </a:pPr>
          </a:p>
          <a:p>
            <a:pPr>
              <a:spcBef>
                <a:spcPts val="200"/>
              </a:spcBef>
              <a:defRPr sz="1100"/>
            </a:pPr>
            <a:r>
              <a:t>Benefits:</a:t>
            </a:r>
          </a:p>
          <a:p>
            <a:pPr>
              <a:spcBef>
                <a:spcPts val="200"/>
              </a:spcBef>
              <a:defRPr sz="1100"/>
            </a:pPr>
            <a:r>
              <a:t>• 80% faster</a:t>
            </a:r>
          </a:p>
          <a:p>
            <a:pPr>
              <a:spcBef>
                <a:spcPts val="200"/>
              </a:spcBef>
              <a:defRPr sz="1100"/>
            </a:pPr>
            <a:r>
              <a:t>• Feature flags</a:t>
            </a:r>
          </a:p>
          <a:p>
            <a:pPr>
              <a:spcBef>
                <a:spcPts val="200"/>
              </a:spcBef>
              <a:defRPr sz="1100"/>
            </a:pPr>
            <a:r>
              <a:t>• Instant rollback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Proposed Solution #1: GitFlow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How It's Different:</a:t>
            </a:r>
          </a:p>
          <a:p>
            <a:pPr>
              <a:spcAft>
                <a:spcPts val="800"/>
              </a:spcAft>
              <a:defRPr sz="1600"/>
            </a:pPr>
            <a:r>
              <a:t>• 3 environments (DEV, QA/STAGE, PROD) - reduce from 5</a:t>
            </a:r>
          </a:p>
          <a:p>
            <a:pPr>
              <a:spcAft>
                <a:spcPts val="800"/>
              </a:spcAft>
              <a:defRPr sz="1600"/>
            </a:pPr>
            <a:r>
              <a:t>• 2 main branches: develop + main</a:t>
            </a:r>
          </a:p>
          <a:p>
            <a:pPr>
              <a:spcAft>
                <a:spcPts val="800"/>
              </a:spcAft>
              <a:defRPr sz="1600"/>
            </a:pPr>
            <a:r>
              <a:t>• Release branches for each sprint</a:t>
            </a:r>
          </a:p>
          <a:p>
            <a:pPr>
              <a:spcAft>
                <a:spcPts val="800"/>
              </a:spcAft>
              <a:defRPr sz="1600"/>
            </a:pPr>
            <a:r>
              <a:t>• Automatic merging (NO cherry-picks)</a:t>
            </a:r>
          </a:p>
          <a:p>
            <a:pPr>
              <a:spcAft>
                <a:spcPts val="800"/>
              </a:spcAft>
              <a:defRPr sz="1600"/>
            </a:pPr>
            <a:r>
              <a:t>• Build Once, Deploy Everywhere (BODE)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Key Changes:</a:t>
            </a:r>
          </a:p>
          <a:p>
            <a:pPr>
              <a:spcAft>
                <a:spcPts val="800"/>
              </a:spcAft>
              <a:defRPr sz="1600"/>
            </a:pPr>
            <a:r>
              <a:t>develop → release/v6.1.0 → main</a:t>
            </a:r>
          </a:p>
          <a:p>
            <a:pPr>
              <a:spcAft>
                <a:spcPts val="800"/>
              </a:spcAft>
              <a:defRPr sz="1600"/>
            </a:pPr>
            <a:r>
              <a:t>     ↓           ↓            ↓</a:t>
            </a:r>
          </a:p>
          <a:p>
            <a:pPr>
              <a:spcAft>
                <a:spcPts val="800"/>
              </a:spcAft>
              <a:defRPr sz="1600"/>
            </a:pPr>
            <a:r>
              <a:t>    DEV      QA/STAGE       PROD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• Same artifact promoted through all environments</a:t>
            </a:r>
          </a:p>
          <a:p>
            <a:pPr>
              <a:spcAft>
                <a:spcPts val="800"/>
              </a:spcAft>
              <a:defRPr sz="1600"/>
            </a:pPr>
            <a:r>
              <a:t>• Hotfix branches with clear process</a:t>
            </a:r>
          </a:p>
          <a:p>
            <a:pPr>
              <a:spcAft>
                <a:spcPts val="800"/>
              </a:spcAft>
              <a:defRPr sz="1600"/>
            </a:pPr>
            <a:r>
              <a:t>• Automatic synchronization (main → develop)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GitFlow: Benefits &amp;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Benefits:</a:t>
            </a:r>
          </a:p>
          <a:p>
            <a:pPr>
              <a:spcAft>
                <a:spcPts val="800"/>
              </a:spcAft>
              <a:defRPr sz="1600"/>
            </a:pPr>
            <a:r>
              <a:t>✅ 50% faster delivery (1-1.5 weeks vs 2-3 weeks)</a:t>
            </a:r>
          </a:p>
          <a:p>
            <a:pPr>
              <a:spcAft>
                <a:spcPts val="800"/>
              </a:spcAft>
              <a:defRPr sz="1600"/>
            </a:pPr>
            <a:r>
              <a:t>✅ Zero cherry-picks (100% elimination)</a:t>
            </a:r>
          </a:p>
          <a:p>
            <a:pPr>
              <a:spcAft>
                <a:spcPts val="800"/>
              </a:spcAft>
              <a:defRPr sz="1600"/>
            </a:pPr>
            <a:r>
              <a:t>✅ Build Once principle (same artifact tested = deployed)</a:t>
            </a:r>
          </a:p>
          <a:p>
            <a:pPr>
              <a:spcAft>
                <a:spcPts val="800"/>
              </a:spcAft>
              <a:defRPr sz="1600"/>
            </a:pPr>
            <a:r>
              <a:t>✅ Clear hotfix and rollback procedures</a:t>
            </a:r>
          </a:p>
          <a:p>
            <a:pPr>
              <a:spcAft>
                <a:spcPts val="800"/>
              </a:spcAft>
              <a:defRPr sz="1600"/>
            </a:pPr>
            <a:r>
              <a:t>✅ 40% cost reduction (fewer environments)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Required Quality Gates &amp; Policies:</a:t>
            </a:r>
          </a:p>
          <a:p>
            <a:pPr>
              <a:spcAft>
                <a:spcPts val="800"/>
              </a:spcAft>
              <a:defRPr sz="1600"/>
            </a:pPr>
            <a:r>
              <a:t>• Code coverage &gt;70% (mandatory)</a:t>
            </a:r>
          </a:p>
          <a:p>
            <a:pPr>
              <a:spcAft>
                <a:spcPts val="800"/>
              </a:spcAft>
              <a:defRPr sz="1600"/>
            </a:pPr>
            <a:r>
              <a:t>• SonarQube quality gate (enforced, not optional)</a:t>
            </a:r>
          </a:p>
          <a:p>
            <a:pPr>
              <a:spcAft>
                <a:spcPts val="800"/>
              </a:spcAft>
              <a:defRPr sz="1600"/>
            </a:pPr>
            <a:r>
              <a:t>• Security scans (SAST) before production</a:t>
            </a:r>
          </a:p>
          <a:p>
            <a:pPr>
              <a:spcAft>
                <a:spcPts val="800"/>
              </a:spcAft>
              <a:defRPr sz="1600"/>
            </a:pPr>
            <a:r>
              <a:t>• Automated test execution</a:t>
            </a:r>
          </a:p>
          <a:p>
            <a:pPr>
              <a:spcAft>
                <a:spcPts val="800"/>
              </a:spcAft>
              <a:defRPr sz="1600"/>
            </a:pPr>
            <a:r>
              <a:t>• Branch protection (require PR approvals)</a:t>
            </a:r>
          </a:p>
          <a:p>
            <a:pPr>
              <a:spcAft>
                <a:spcPts val="800"/>
              </a:spcAft>
              <a:defRPr sz="1600"/>
            </a:pPr>
            <a:r>
              <a:t>• Artifact registry for promoting builds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Proposed Solution #2: Trunk-Based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How It's Different:</a:t>
            </a:r>
          </a:p>
          <a:p>
            <a:pPr>
              <a:spcAft>
                <a:spcPts val="800"/>
              </a:spcAft>
              <a:defRPr sz="1600"/>
            </a:pPr>
            <a:r>
              <a:t>• Single main branch (trunk) - all changes merge here</a:t>
            </a:r>
          </a:p>
          <a:p>
            <a:pPr>
              <a:spcAft>
                <a:spcPts val="800"/>
              </a:spcAft>
              <a:defRPr sz="1600"/>
            </a:pPr>
            <a:r>
              <a:t>• Short-lived feature branches (1-2 days max)</a:t>
            </a:r>
          </a:p>
          <a:p>
            <a:pPr>
              <a:spcAft>
                <a:spcPts val="800"/>
              </a:spcAft>
              <a:defRPr sz="1600"/>
            </a:pPr>
            <a:r>
              <a:t>• Feature flags control feature release</a:t>
            </a:r>
          </a:p>
          <a:p>
            <a:pPr>
              <a:spcAft>
                <a:spcPts val="800"/>
              </a:spcAft>
              <a:defRPr sz="1600"/>
            </a:pPr>
            <a:r>
              <a:t>• Continuous deployment to all environments</a:t>
            </a:r>
          </a:p>
          <a:p>
            <a:pPr>
              <a:spcAft>
                <a:spcPts val="800"/>
              </a:spcAft>
              <a:defRPr sz="1600"/>
            </a:pPr>
            <a:r>
              <a:t>• Deploy anytime, release when ready (decoupled)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Key Innovation - Feature Flags:</a:t>
            </a:r>
          </a:p>
          <a:p>
            <a:pPr>
              <a:spcAft>
                <a:spcPts val="800"/>
              </a:spcAft>
              <a:defRPr sz="1600"/>
            </a:pPr>
            <a:r>
              <a:t>• Code deployed with features hidden (flag OFF)</a:t>
            </a:r>
          </a:p>
          <a:p>
            <a:pPr>
              <a:spcAft>
                <a:spcPts val="800"/>
              </a:spcAft>
              <a:defRPr sz="1600"/>
            </a:pPr>
            <a:r>
              <a:t>• Gradually enable: 0% → 10% → 50% → 100%</a:t>
            </a:r>
          </a:p>
          <a:p>
            <a:pPr>
              <a:spcAft>
                <a:spcPts val="800"/>
              </a:spcAft>
              <a:defRPr sz="1600"/>
            </a:pPr>
            <a:r>
              <a:t>• Instant rollback: Set flag to 0% (30 seconds!)</a:t>
            </a:r>
          </a:p>
          <a:p>
            <a:pPr>
              <a:spcAft>
                <a:spcPts val="800"/>
              </a:spcAft>
              <a:defRPr sz="1600"/>
            </a:pPr>
            <a:r>
              <a:t>• No redeploy needed for rollback</a:t>
            </a:r>
          </a:p>
          <a:p>
            <a:pPr>
              <a:spcAft>
                <a:spcPts val="800"/>
              </a:spcAft>
              <a:defRPr sz="1600"/>
            </a:pPr>
            <a:r>
              <a:t>• A/B testing and canary deployments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Result: 80% faster delivery (1-2 days vs 2-3 weeks)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TBD: Requirements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Critical Prerequisites:</a:t>
            </a:r>
          </a:p>
          <a:p>
            <a:pPr>
              <a:spcAft>
                <a:spcPts val="800"/>
              </a:spcAft>
              <a:defRPr sz="1600"/>
            </a:pPr>
            <a:r>
              <a:t>• Test coverage &gt;80% (currently &lt;20%)</a:t>
            </a:r>
          </a:p>
          <a:p>
            <a:pPr>
              <a:spcAft>
                <a:spcPts val="800"/>
              </a:spcAft>
              <a:defRPr sz="1600"/>
            </a:pPr>
            <a:r>
              <a:t>• Feature flag platform (LaunchDarkly, Split.io)</a:t>
            </a:r>
          </a:p>
          <a:p>
            <a:pPr>
              <a:spcAft>
                <a:spcPts val="800"/>
              </a:spcAft>
              <a:defRPr sz="1600"/>
            </a:pPr>
            <a:r>
              <a:t>• Advanced observability (real-time monitoring, APM)</a:t>
            </a:r>
          </a:p>
          <a:p>
            <a:pPr>
              <a:spcAft>
                <a:spcPts val="800"/>
              </a:spcAft>
              <a:defRPr sz="1600"/>
            </a:pPr>
            <a:r>
              <a:t>• Fast CI/CD pipeline (&lt;10 min build+test)</a:t>
            </a:r>
          </a:p>
          <a:p>
            <a:pPr>
              <a:spcAft>
                <a:spcPts val="800"/>
              </a:spcAft>
              <a:defRPr sz="1600"/>
            </a:pPr>
            <a:r>
              <a:t>• Strong team discipline (trunk always deployable)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Feature Flags in Practice:</a:t>
            </a:r>
          </a:p>
          <a:p>
            <a:pPr>
              <a:spcAft>
                <a:spcPts val="800"/>
              </a:spcAft>
              <a:defRPr sz="1600"/>
            </a:pPr>
            <a:r>
              <a:t>• Wrap new code: if (featureFlag.enabled) { new code }</a:t>
            </a:r>
          </a:p>
          <a:p>
            <a:pPr>
              <a:spcAft>
                <a:spcPts val="800"/>
              </a:spcAft>
              <a:defRPr sz="1600"/>
            </a:pPr>
            <a:r>
              <a:t>• Deploy with flag OFF (dark launch)</a:t>
            </a:r>
          </a:p>
          <a:p>
            <a:pPr>
              <a:spcAft>
                <a:spcPts val="800"/>
              </a:spcAft>
              <a:defRPr sz="1600"/>
            </a:pPr>
            <a:r>
              <a:t>• Test in production safely</a:t>
            </a:r>
          </a:p>
          <a:p>
            <a:pPr>
              <a:spcAft>
                <a:spcPts val="800"/>
              </a:spcAft>
              <a:defRPr sz="1600"/>
            </a:pPr>
            <a:r>
              <a:t>• Gradual rollout reduces risk</a:t>
            </a:r>
          </a:p>
          <a:p>
            <a:pPr>
              <a:spcAft>
                <a:spcPts val="800"/>
              </a:spcAft>
              <a:defRPr sz="1600"/>
            </a:pPr>
            <a:r>
              <a:t>• Instant disable if issues detected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Timeline: 9-12 months to build prerequisites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Database Deployments: Build Once with .dacpac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10058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App (Docker)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Database (.dacpac)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Docker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.dacpac file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Same binary deployed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Same .dacpac deployed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Identical per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Different SQL per environment*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BODE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Pure BODE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Conditional BODE ⚠️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* .dacpac is state-based: Same artifact, but SqlPackage generates different SQL based on target database current state. Still considered BODE because source artifact is immutable.</a:t>
            </a:r>
          </a:p>
          <a:p/>
          <a:p>
            <a:r>
              <a:t>Key Point: App + .dacpac built together, versioned together, promoted together through all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Recommendation: Two-Phase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Phase 1: GitFlow Migration (Months 1-6)</a:t>
            </a:r>
          </a:p>
          <a:p>
            <a:pPr>
              <a:spcAft>
                <a:spcPts val="800"/>
              </a:spcAft>
              <a:defRPr sz="1500"/>
            </a:pPr>
            <a:r>
              <a:t>• Practical: Team 80% ready, minimal prerequisites</a:t>
            </a:r>
          </a:p>
          <a:p>
            <a:pPr>
              <a:spcAft>
                <a:spcPts val="800"/>
              </a:spcAft>
              <a:defRPr sz="1500"/>
            </a:pPr>
            <a:r>
              <a:t>• Quick wins: BODE, zero cherry-picks, clear processes</a:t>
            </a:r>
          </a:p>
          <a:p>
            <a:pPr>
              <a:spcAft>
                <a:spcPts val="800"/>
              </a:spcAft>
              <a:defRPr sz="1500"/>
            </a:pPr>
            <a:r>
              <a:t>• 50% faster delivery</a:t>
            </a:r>
          </a:p>
          <a:p>
            <a:pPr>
              <a:spcAft>
                <a:spcPts val="800"/>
              </a:spcAft>
              <a:defRPr sz="1500"/>
            </a:pPr>
            <a:r>
              <a:t>• Low risk: Proven pattern, 3-month implementation</a:t>
            </a:r>
          </a:p>
          <a:p>
            <a:pPr>
              <a:spcAft>
                <a:spcPts val="800"/>
              </a:spcAft>
              <a:defRPr sz="1500"/>
            </a:pPr>
            <a:r>
              <a:t>• ROI: Payback in 2-4 months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Phase 2: Build TBD Capabilities (Months 7-12)</a:t>
            </a:r>
          </a:p>
          <a:p>
            <a:pPr>
              <a:spcAft>
                <a:spcPts val="800"/>
              </a:spcAft>
              <a:defRPr sz="1500"/>
            </a:pPr>
            <a:r>
              <a:t>• Use GitFlow phase to increase test coverage to 80%</a:t>
            </a:r>
          </a:p>
          <a:p>
            <a:pPr>
              <a:spcAft>
                <a:spcPts val="800"/>
              </a:spcAft>
              <a:defRPr sz="1500"/>
            </a:pPr>
            <a:r>
              <a:t>• Implement feature flag platform</a:t>
            </a:r>
          </a:p>
          <a:p>
            <a:pPr>
              <a:spcAft>
                <a:spcPts val="800"/>
              </a:spcAft>
              <a:defRPr sz="1500"/>
            </a:pPr>
            <a:r>
              <a:t>• Enhance observability and monitoring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Phase 3: Migrate to TBD (Months 13-18, if desired)</a:t>
            </a:r>
          </a:p>
          <a:p>
            <a:pPr>
              <a:spcAft>
                <a:spcPts val="800"/>
              </a:spcAft>
              <a:defRPr sz="1500"/>
            </a:pPr>
            <a:r>
              <a:t>• 80% faster delivery overall</a:t>
            </a:r>
          </a:p>
          <a:p>
            <a:pPr>
              <a:spcAft>
                <a:spcPts val="800"/>
              </a:spcAft>
              <a:defRPr sz="1500"/>
            </a:pPr>
            <a:r>
              <a:t>• Industry-leading performance</a:t>
            </a:r>
          </a:p>
          <a:p>
            <a:pPr>
              <a:spcAft>
                <a:spcPts val="800"/>
              </a:spcAft>
              <a:defRPr sz="1500"/>
            </a:pPr>
          </a:p>
          <a:p>
            <a:pPr>
              <a:spcAft>
                <a:spcPts val="800"/>
              </a:spcAft>
              <a:defRPr sz="1500"/>
            </a:pPr>
            <a:r>
              <a:t>Why This Works: Incremental improvement, manageable risk, strong ROI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 &amp; Additional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Immediate Actions:</a:t>
            </a:r>
          </a:p>
          <a:p>
            <a:pPr>
              <a:spcAft>
                <a:spcPts val="800"/>
              </a:spcAft>
              <a:defRPr sz="1600"/>
            </a:pPr>
            <a:r>
              <a:t>• Week 1: Leadership decision and budget approval</a:t>
            </a:r>
          </a:p>
          <a:p>
            <a:pPr>
              <a:spcAft>
                <a:spcPts val="800"/>
              </a:spcAft>
              <a:defRPr sz="1600"/>
            </a:pPr>
            <a:r>
              <a:t>• Week 2-4: Pilot GitFlow with one team/service</a:t>
            </a:r>
          </a:p>
          <a:p>
            <a:pPr>
              <a:spcAft>
                <a:spcPts val="800"/>
              </a:spcAft>
              <a:defRPr sz="1600"/>
            </a:pPr>
            <a:r>
              <a:t>• Month 2-3: Full rollout to all teams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Available Documentation:</a:t>
            </a:r>
          </a:p>
          <a:p>
            <a:pPr>
              <a:spcAft>
                <a:spcPts val="800"/>
              </a:spcAft>
              <a:defRPr sz="1600"/>
            </a:pPr>
            <a:r>
              <a:t>This presentation provides a high-level overview.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For those needing more detail, we have:</a:t>
            </a:r>
          </a:p>
          <a:p>
            <a:pPr>
              <a:spcAft>
                <a:spcPts val="800"/>
              </a:spcAft>
              <a:defRPr sz="1600"/>
            </a:pPr>
            <a:r>
              <a:t>• Comprehensive technical analysis (30+ pages)</a:t>
            </a:r>
          </a:p>
          <a:p>
            <a:pPr>
              <a:spcAft>
                <a:spcPts val="800"/>
              </a:spcAft>
              <a:defRPr sz="1600"/>
            </a:pPr>
            <a:r>
              <a:t>• Detailed sequence diagrams for all flows:</a:t>
            </a:r>
          </a:p>
          <a:p>
            <a:pPr lvl="1">
              <a:spcAft>
                <a:spcPts val="800"/>
              </a:spcAft>
              <a:defRPr sz="1400"/>
            </a:pPr>
            <a:r>
              <a:t>  - Happy path scenarios</a:t>
            </a:r>
          </a:p>
          <a:p>
            <a:pPr lvl="1">
              <a:spcAft>
                <a:spcPts val="800"/>
              </a:spcAft>
              <a:defRPr sz="1400"/>
            </a:pPr>
            <a:r>
              <a:t>  - Bug fix processes</a:t>
            </a:r>
          </a:p>
          <a:p>
            <a:pPr lvl="1">
              <a:spcAft>
                <a:spcPts val="800"/>
              </a:spcAft>
              <a:defRPr sz="1400"/>
            </a:pPr>
            <a:r>
              <a:t>  - Hotfix procedures</a:t>
            </a:r>
          </a:p>
          <a:p>
            <a:pPr lvl="1">
              <a:spcAft>
                <a:spcPts val="800"/>
              </a:spcAft>
              <a:defRPr sz="1400"/>
            </a:pPr>
            <a:r>
              <a:t>  - Rollback strategies</a:t>
            </a:r>
          </a:p>
          <a:p>
            <a:pPr lvl="1">
              <a:spcAft>
                <a:spcPts val="800"/>
              </a:spcAft>
              <a:defRPr sz="1400"/>
            </a:pPr>
            <a:r>
              <a:t>  - Database deployment patterns</a:t>
            </a:r>
          </a:p>
          <a:p>
            <a:pPr>
              <a:spcAft>
                <a:spcPts val="800"/>
              </a:spcAft>
              <a:defRPr sz="1600"/>
            </a:pPr>
            <a:r>
              <a:t>• Implementation guides with code examples</a:t>
            </a:r>
          </a:p>
          <a:p>
            <a:pPr>
              <a:spcAft>
                <a:spcPts val="800"/>
              </a:spcAft>
              <a:defRPr sz="1600"/>
            </a:pPr>
            <a:r>
              <a:t>• Migration timelines and checklists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